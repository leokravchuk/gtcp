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 (€К/мес)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Год 1</c:v>
                  </c:pt>
                  <c:pt idx="1">
                    <c:v>Год 2</c:v>
                  </c:pt>
                  <c:pt idx="2">
                    <c:v>Год 3</c:v>
                  </c:pt>
                  <c:pt idx="3">
                    <c:v>Год 4</c:v>
                  </c:pt>
                  <c:pt idx="4">
                    <c:v>Год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1150</c:v>
                </c:pt>
                <c:pt idx="1">
                  <c:v>1217</c:v>
                </c:pt>
                <c:pt idx="2">
                  <c:v>1293</c:v>
                </c:pt>
                <c:pt idx="3">
                  <c:v>1355</c:v>
                </c:pt>
                <c:pt idx="4">
                  <c:v>1407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OPEX (€К/мес)</c:v>
                </c:pt>
              </c:strCache>
            </c:strRef>
          </c:tx>
          <c:spPr>
            <a:solidFill>
              <a:srgbClr val="E2E8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Год 1</c:v>
                  </c:pt>
                  <c:pt idx="1">
                    <c:v>Год 2</c:v>
                  </c:pt>
                  <c:pt idx="2">
                    <c:v>Год 3</c:v>
                  </c:pt>
                  <c:pt idx="3">
                    <c:v>Год 4</c:v>
                  </c:pt>
                  <c:pt idx="4">
                    <c:v>Год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99</c:v>
                </c:pt>
                <c:pt idx="1">
                  <c:v>103</c:v>
                </c:pt>
                <c:pt idx="2">
                  <c:v>107</c:v>
                </c:pt>
                <c:pt idx="3">
                  <c:v>111</c:v>
                </c:pt>
                <c:pt idx="4">
                  <c:v>115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EBITDA (€К/мес)</c:v>
                </c:pt>
              </c:strCache>
            </c:strRef>
          </c:tx>
          <c:spPr>
            <a:solidFill>
              <a:srgbClr val="00E5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Год 1</c:v>
                  </c:pt>
                  <c:pt idx="1">
                    <c:v>Год 2</c:v>
                  </c:pt>
                  <c:pt idx="2">
                    <c:v>Год 3</c:v>
                  </c:pt>
                  <c:pt idx="3">
                    <c:v>Год 4</c:v>
                  </c:pt>
                  <c:pt idx="4">
                    <c:v>Год 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1051</c:v>
                </c:pt>
                <c:pt idx="1">
                  <c:v>1114</c:v>
                </c:pt>
                <c:pt idx="2">
                  <c:v>1186</c:v>
                </c:pt>
                <c:pt idx="3">
                  <c:v>1244</c:v>
                </c:pt>
                <c:pt idx="4">
                  <c:v>1292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77240"/>
            <a:ext cx="1371600" cy="13716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7772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94560" y="77724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GTCP — Gas Trading &amp;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Platform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194560" y="196596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Дипломная работа · Курс «Менеджер проектов: расширенный курс»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8046720" cy="18288"/>
          </a:xfrm>
          <a:prstGeom prst="rect">
            <a:avLst/>
          </a:prstGeom>
          <a:solidFill>
            <a:srgbClr val="99BBEF"/>
          </a:solidFill>
          <a:ln w="12700">
            <a:solidFill>
              <a:srgbClr val="99BB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33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Заказчик: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263347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ООО «ГАЗ ТРАНС» — Оператор ГТС Сербии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3017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ETRM — Energy Trading &amp; Risk Management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4015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34015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месяцев разработки + 2 года поддержки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78561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378561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€ 3 088 000 (включая резерв 15%)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 ПРЕЗЕНТАЦИИ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дипломной работы по требованиям Нетологии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114800" cy="822960"/>
          </a:xfrm>
          <a:prstGeom prst="rect">
            <a:avLst/>
          </a:prstGeom>
          <a:solidFill>
            <a:srgbClr val="243070"/>
          </a:solidFill>
          <a:ln w="12700">
            <a:solidFill>
              <a:srgbClr val="2E4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0" cy="8229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8992" y="111556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проекте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" y="14904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Описание, цели, команда, бюджет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051560"/>
            <a:ext cx="4114800" cy="822960"/>
          </a:xfrm>
          <a:prstGeom prst="rect">
            <a:avLst/>
          </a:prstGeom>
          <a:solidFill>
            <a:srgbClr val="243070"/>
          </a:solidFill>
          <a:ln w="12700">
            <a:solidFill>
              <a:srgbClr val="2E4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051560"/>
            <a:ext cx="548640" cy="8229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5156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68112" y="111556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Market Fit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68112" y="14904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ETRM, конкуренты, SWOT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039112"/>
            <a:ext cx="4114800" cy="822960"/>
          </a:xfrm>
          <a:prstGeom prst="rect">
            <a:avLst/>
          </a:prstGeom>
          <a:solidFill>
            <a:srgbClr val="243070"/>
          </a:solidFill>
          <a:ln w="12700">
            <a:solidFill>
              <a:srgbClr val="2E4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039112"/>
            <a:ext cx="548640" cy="8229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39112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8992" y="21031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Планирование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8992" y="247802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Map 18 мес, WBS, смета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2039112"/>
            <a:ext cx="4114800" cy="822960"/>
          </a:xfrm>
          <a:prstGeom prst="rect">
            <a:avLst/>
          </a:prstGeom>
          <a:solidFill>
            <a:srgbClr val="243070"/>
          </a:solidFill>
          <a:ln w="12700">
            <a:solidFill>
              <a:srgbClr val="2E4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039112"/>
            <a:ext cx="548640" cy="8229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039112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68112" y="21031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68112" y="247802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Cash Flow, юнит-экономика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026664"/>
            <a:ext cx="4114800" cy="822960"/>
          </a:xfrm>
          <a:prstGeom prst="rect">
            <a:avLst/>
          </a:prstGeom>
          <a:solidFill>
            <a:srgbClr val="243070"/>
          </a:solidFill>
          <a:ln w="12700">
            <a:solidFill>
              <a:srgbClr val="2E4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026664"/>
            <a:ext cx="548640" cy="8229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26664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78992" y="309067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 и качество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78992" y="34655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рисков, митигация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3026664"/>
            <a:ext cx="4114800" cy="822960"/>
          </a:xfrm>
          <a:prstGeom prst="rect">
            <a:avLst/>
          </a:prstGeom>
          <a:solidFill>
            <a:srgbClr val="243070"/>
          </a:solidFill>
          <a:ln w="12700">
            <a:solidFill>
              <a:srgbClr val="2E4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026664"/>
            <a:ext cx="548640" cy="8229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026664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68112" y="309067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Гибкие подходы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68112" y="34655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Scrum+PMBOK гибрид, метрики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014216"/>
            <a:ext cx="4114800" cy="822960"/>
          </a:xfrm>
          <a:prstGeom prst="rect">
            <a:avLst/>
          </a:prstGeom>
          <a:solidFill>
            <a:srgbClr val="243070"/>
          </a:solidFill>
          <a:ln w="12700">
            <a:solidFill>
              <a:srgbClr val="2E40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014216"/>
            <a:ext cx="548640" cy="8229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014216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78992" y="407822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Специализация IT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78992" y="44531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Архитектура, DevOps, ИБ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4014216"/>
            <a:ext cx="4114800" cy="822960"/>
          </a:xfrm>
          <a:prstGeom prst="rect">
            <a:avLst/>
          </a:prstGeom>
          <a:solidFill>
            <a:srgbClr val="243070"/>
          </a:solidFill>
          <a:ln w="12700">
            <a:solidFill>
              <a:srgbClr val="2E409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4014216"/>
            <a:ext cx="548640" cy="8229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4014216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468112" y="407822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68112" y="44531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Реализуемость, перспективы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3716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00C8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017520" y="164592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ПРОЕКТЕ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017520" y="237744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Описание, бизнес-цели, команда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99BBEF"/>
          </a:solidFill>
          <a:ln w="12700">
            <a:solidFill>
              <a:srgbClr val="99BB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ПРОЕКТЕ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GTCP — Gas Trading &amp; Commercial Platform · ООО «ГАЗ ТРАНС»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4241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Тип: Смоделированный проект (реальная архитектура)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Заказчик: ООО «ГАЗ ТРАНС» — Оператор ГТС Сербии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Система: ETRM — Energy Trading &amp; Risk Management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Нормативная база: Сетевой Кодекс NC v2.4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Актуальность: Текущие процессы — ручные.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Матчинг номинаций с AFO занимает 2–3 ч,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кредитный контроль ведётся в Excel, биллинг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1С без автоинтеграции.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Сокращение ручного труда на 70%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Исключение штрафов NC за небаланс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Margin Call в режиме реального времени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04241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ПАРАМЕТРЫ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00600" y="1325880"/>
            <a:ext cx="3886200" cy="365760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35331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995160" y="135331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€ 3.09М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00600" y="1700784"/>
            <a:ext cx="3886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72821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995160" y="1728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месяцев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2075688"/>
            <a:ext cx="3886200" cy="365760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1031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95160" y="21031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специалистов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2450592"/>
            <a:ext cx="3886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47802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Грузоотправители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95160" y="247802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активных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2825496"/>
            <a:ext cx="3886200" cy="365760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85292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IP-точки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95160" y="28529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(Хоргош + Господжинцы)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3200400"/>
            <a:ext cx="3886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22783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 FIRM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95160" y="322783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€ 118.50 / тыс.м³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575304"/>
            <a:ext cx="3886200" cy="365760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60273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выручка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95160" y="360273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€ 49.8М / год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3950208"/>
            <a:ext cx="3886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9776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/ Payback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95160" y="39776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2.5–3 года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99BBEF"/>
          </a:solidFill>
          <a:ln w="12700">
            <a:solidFill>
              <a:srgbClr val="99BB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БИЗНЕС-ЦЕЛИ ПРОЕКТА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Оцифрованные, достижимые, проверяемые — по SMART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2011680" cy="5029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номинаций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2402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матчинг с AFO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 мин к М17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3246120"/>
            <a:ext cx="18288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3101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Бюджет: € 420К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3657600"/>
            <a:ext cx="1828800" cy="685800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033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Сроки: М5–М17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39959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Метрика: см. Раздел 5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96312" y="96012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96312" y="960120"/>
            <a:ext cx="2011680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96312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587752" y="15361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Кредитный контроль 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87752" y="22402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Call за &lt; 4ч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превышений лимита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87752" y="3246120"/>
            <a:ext cx="18288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87752" y="33101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Бюджет: € 280К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87752" y="3657600"/>
            <a:ext cx="1828800" cy="685800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33472" y="37033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Сроки: М5–М17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633472" y="39959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Метрика: см. Раздел 5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72584" y="96012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72584" y="960120"/>
            <a:ext cx="2011680" cy="5029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72584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764024" y="15361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Балансировка / OBA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64024" y="22402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Небаланс ≤ 3% нормы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QA-штрафы –60%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64024" y="3246120"/>
            <a:ext cx="18288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64024" y="33101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Бюджет: € 180К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64024" y="3657600"/>
            <a:ext cx="1828800" cy="685800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37033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Сроки: М5–М17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09744" y="39959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Метрика: см. Раздел 5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848856" y="96012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48856" y="960120"/>
            <a:ext cx="2011680" cy="50292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8856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940296" y="15361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Биллинг + интеграция 1С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40296" y="22402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 за 2ч после газ.дня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99.9%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940296" y="3246120"/>
            <a:ext cx="18288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0296" y="33101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Бюджет: € 350К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40296" y="3657600"/>
            <a:ext cx="1828800" cy="685800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86016" y="37033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Сроки: М5–М17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986016" y="39959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Метрика: см. Раздел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99BBEF"/>
          </a:solidFill>
          <a:ln w="12700">
            <a:solidFill>
              <a:srgbClr val="99BB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ПРОЕКТНАЯ КОМАНДА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специалистов · 3 функциональные группы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201168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" y="109728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3192" y="176479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проекта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93192" y="224942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PMBOK / Agile / GIS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96312" y="987552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96312" y="987552"/>
            <a:ext cx="2011680" cy="54864"/>
          </a:xfrm>
          <a:prstGeom prst="rect">
            <a:avLst/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9544" y="1097280"/>
            <a:ext cx="594360" cy="594360"/>
          </a:xfrm>
          <a:prstGeom prst="ellipse">
            <a:avLst/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9544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69464" y="176479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Бизнес-аналитик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69464" y="224942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BRD, BPMN, NC v2.4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72584" y="987552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72584" y="987552"/>
            <a:ext cx="201168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85816" y="1097280"/>
            <a:ext cx="594360" cy="59436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85816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45736" y="176479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Архитектор ПО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45736" y="224942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Microservices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48856" y="987552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48856" y="987552"/>
            <a:ext cx="201168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2088" y="1097280"/>
            <a:ext cx="594360" cy="59436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2088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22008" y="176479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Backend-разработчик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22008" y="224942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Python / REST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2953512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2953512"/>
            <a:ext cx="2011680" cy="54864"/>
          </a:xfrm>
          <a:prstGeom prst="rect">
            <a:avLst/>
          </a:prstGeom>
          <a:solidFill>
            <a:srgbClr val="0088CC"/>
          </a:solidFill>
          <a:ln w="12700">
            <a:solidFill>
              <a:srgbClr val="0088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3272" y="3063240"/>
            <a:ext cx="594360" cy="594360"/>
          </a:xfrm>
          <a:prstGeom prst="ellipse">
            <a:avLst/>
          </a:prstGeom>
          <a:solidFill>
            <a:srgbClr val="0088CC"/>
          </a:solidFill>
          <a:ln w="12700">
            <a:solidFill>
              <a:srgbClr val="0088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3272" y="3063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93192" y="373075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Frontend-разработ.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93192" y="421538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TypeScript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496312" y="2953512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496312" y="2953512"/>
            <a:ext cx="201168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9544" y="3063240"/>
            <a:ext cx="594360" cy="59436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9544" y="3063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569464" y="373075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QA-инженер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569464" y="421538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FAT, UAT, автотесты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72584" y="2953512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72584" y="2953512"/>
            <a:ext cx="201168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85816" y="3063240"/>
            <a:ext cx="594360" cy="59436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85816" y="3063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745736" y="373075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ИБ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745736" y="421538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Zabbix, LDAP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848856" y="2953512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48856" y="2953512"/>
            <a:ext cx="201168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62088" y="3063240"/>
            <a:ext cx="594360" cy="59436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62088" y="3063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922008" y="373075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Финансовый аналитик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922008" y="421538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ETRM, PnL, Биллинг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3716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00C8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017520" y="164592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MARKET FIT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017520" y="237744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рынка ETRM · Конкуренты · SWOT · Lean Canvas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99BBEF"/>
          </a:solidFill>
          <a:ln w="12700">
            <a:solidFill>
              <a:srgbClr val="99BB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РЫНКА ETRM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Глобальный рынок · Европейский сегмент · Сербия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201168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789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Глобальный рынок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3075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$10.8 млрд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· CAGR 9.1%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68880" y="987552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987552"/>
            <a:ext cx="201168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0789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Европейский сегмент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60320" y="13075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 млрд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0320" y="1737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+11%/год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987552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987552"/>
            <a:ext cx="201168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0789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Балкан / СЕЕ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09160" y="13075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 млн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09160" y="1737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стран-ОТС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66560" y="987552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987552"/>
            <a:ext cx="201168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0789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Наша аудитория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0" y="13075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12–15 ОТС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58000" y="1737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Сербия + регион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2450592"/>
            <a:ext cx="850392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25237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ВЫВОДЫ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2816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Рынок быстро растущий (CAGR 9.1%), драйвер — энергопереход и директивы ЕС IEM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31638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Директива IEM + NC ENTSOG обязывают ОТС к автоматизации: ETRM не опция, а требование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351129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Конкуренция высокая (SAP, Openlink, Allegro), но готовых локализованных решений нет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38587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ГАЗ ТРАНС — единственный ОТС Сербии, монополия исключает потерю клиента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Отстройка: нативная интеграция 1С ERP + поддержка NC v2.4 с первого дня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99BBEF"/>
          </a:solidFill>
          <a:ln w="12700">
            <a:solidFill>
              <a:srgbClr val="99BB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АНАЛИЗ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5 ключевых критериев для ОТС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01168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0" y="960120"/>
            <a:ext cx="118872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9601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ETRM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960120"/>
            <a:ext cx="118872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9601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Openlink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118872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601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Allegro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52160" y="960120"/>
            <a:ext cx="118872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9601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40880" y="960120"/>
            <a:ext cx="14173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96012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GTCP (наш)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353312"/>
            <a:ext cx="2011680" cy="3931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353312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Номинации / матчинг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0" y="1353312"/>
            <a:ext cx="1188720" cy="3931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1720" y="1353312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0" y="1353312"/>
            <a:ext cx="1188720" cy="3931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1353312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353312"/>
            <a:ext cx="1188720" cy="3931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353312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52160" y="1353312"/>
            <a:ext cx="1188720" cy="3931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353312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40880" y="1353312"/>
            <a:ext cx="1417320" cy="393192"/>
          </a:xfrm>
          <a:prstGeom prst="rect">
            <a:avLst/>
          </a:prstGeom>
          <a:solidFill>
            <a:srgbClr val="24307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1353312"/>
            <a:ext cx="1325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EDIG@S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1755648"/>
            <a:ext cx="20116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1755648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Кредитный риск RT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0" y="1755648"/>
            <a:ext cx="1188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31720" y="1755648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74720" y="1755648"/>
            <a:ext cx="1188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1755648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1755648"/>
            <a:ext cx="1188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1755648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52160" y="1755648"/>
            <a:ext cx="1188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1755648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040880" y="1755648"/>
            <a:ext cx="1417320" cy="393192"/>
          </a:xfrm>
          <a:prstGeom prst="rect">
            <a:avLst/>
          </a:prstGeom>
          <a:solidFill>
            <a:srgbClr val="24307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86600" y="1755648"/>
            <a:ext cx="1325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Margin Call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2157984"/>
            <a:ext cx="2011680" cy="3931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2157984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Балансировка OBA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286000" y="2157984"/>
            <a:ext cx="1188720" cy="3931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31720" y="2157984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74720" y="2157984"/>
            <a:ext cx="1188720" cy="3931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20440" y="2157984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57984"/>
            <a:ext cx="1188720" cy="3931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57984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852160" y="2157984"/>
            <a:ext cx="1188720" cy="3931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97880" y="2157984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040880" y="2157984"/>
            <a:ext cx="1417320" cy="393192"/>
          </a:xfrm>
          <a:prstGeom prst="rect">
            <a:avLst/>
          </a:prstGeom>
          <a:solidFill>
            <a:srgbClr val="24307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86600" y="2157984"/>
            <a:ext cx="1325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ISO-метод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2560320"/>
            <a:ext cx="20116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2560320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1С ERP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286000" y="2560320"/>
            <a:ext cx="1188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31720" y="2560320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474720" y="2560320"/>
            <a:ext cx="1188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20440" y="2560320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663440" y="2560320"/>
            <a:ext cx="1188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09160" y="2560320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852160" y="2560320"/>
            <a:ext cx="1188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97880" y="2560320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040880" y="2560320"/>
            <a:ext cx="1417320" cy="393192"/>
          </a:xfrm>
          <a:prstGeom prst="rect">
            <a:avLst/>
          </a:prstGeom>
          <a:solidFill>
            <a:srgbClr val="24307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86600" y="2560320"/>
            <a:ext cx="1325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нативная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74320" y="2962656"/>
            <a:ext cx="2011680" cy="3931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2962656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v2.4 Сербия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286000" y="2962656"/>
            <a:ext cx="1188720" cy="3931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31720" y="2962656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474720" y="2962656"/>
            <a:ext cx="1188720" cy="3931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520440" y="2962656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2962656"/>
            <a:ext cx="1188720" cy="3931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2962656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852160" y="2962656"/>
            <a:ext cx="1188720" cy="3931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97880" y="2962656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040880" y="2962656"/>
            <a:ext cx="1417320" cy="393192"/>
          </a:xfrm>
          <a:prstGeom prst="rect">
            <a:avLst/>
          </a:prstGeom>
          <a:solidFill>
            <a:srgbClr val="24307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86600" y="2962656"/>
            <a:ext cx="1325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с 1-го дня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74320" y="3364992"/>
            <a:ext cx="20116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0040" y="3364992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286000" y="3364992"/>
            <a:ext cx="1188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331720" y="3364992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€5–10М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474720" y="3364992"/>
            <a:ext cx="1188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520440" y="3364992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€3–7М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663440" y="3364992"/>
            <a:ext cx="1188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709160" y="3364992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€2–5М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852160" y="3364992"/>
            <a:ext cx="1188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897880" y="3364992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€2–4М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7040880" y="3364992"/>
            <a:ext cx="1417320" cy="393192"/>
          </a:xfrm>
          <a:prstGeom prst="rect">
            <a:avLst/>
          </a:prstGeom>
          <a:solidFill>
            <a:srgbClr val="24307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086600" y="3364992"/>
            <a:ext cx="1325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€420К CAPEX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74320" y="3767328"/>
            <a:ext cx="2011680" cy="3931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20040" y="3767328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внедр.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2286000" y="3767328"/>
            <a:ext cx="1188720" cy="3931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331720" y="3767328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мес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474720" y="3767328"/>
            <a:ext cx="1188720" cy="3931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520440" y="3767328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мес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3767328"/>
            <a:ext cx="1188720" cy="3931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3767328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мес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5852160" y="3767328"/>
            <a:ext cx="1188720" cy="393192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897880" y="3767328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мес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7040880" y="3767328"/>
            <a:ext cx="1417320" cy="393192"/>
          </a:xfrm>
          <a:prstGeom prst="rect">
            <a:avLst/>
          </a:prstGeom>
          <a:solidFill>
            <a:srgbClr val="24307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086600" y="3767328"/>
            <a:ext cx="1325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мес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274320" y="455371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GTCP — единственное решение с нативной интеграцией 1С ERP и полной поддержкой NC v2.4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99BBEF"/>
          </a:solidFill>
          <a:ln w="12700">
            <a:solidFill>
              <a:srgbClr val="99BB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SWOT-АНАЛИЗ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Стратегический анализ проекта GTCP ETRM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4114800" cy="34747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875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 СТОРОНЫ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37160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Уникальная интеграция 1С ERP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171907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NC v2.4 с 1-го дня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206654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Гибкая микросервисная архитектура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241401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ETRM-команда с отраслевым опытом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987552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87552"/>
            <a:ext cx="4114800" cy="347472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9875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 СТОРОНЫ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73168" y="137160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с нуля (no MVP)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73168" y="171907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 от 1 вендора ETRM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73168" y="206654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Дефицит NC-специалистов на рынке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73168" y="241401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CAPEX старта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1089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108960"/>
            <a:ext cx="4114800" cy="34747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08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" y="349300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Тиражирование в 6+ стран СЕЕ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9768" y="38404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требований ЕС к цифровизации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29768" y="418795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IP-точки и газопроводы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9768" y="453542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новых грузоотправителей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31089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108960"/>
            <a:ext cx="4114800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108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73168" y="349300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Изменения Сетевого Кодекса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73168" y="38404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Санкционные ограничения ПО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73168" y="418795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/ Openlink с агрессивным ценообразованием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73168" y="453542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Задержки регуляторных согласований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26280" y="969264"/>
            <a:ext cx="0" cy="407822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03580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3716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00C8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017520" y="164592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ПЛАНИРОВАНИЕ ПРОЕКТА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017520" y="237744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Map · WBS · Смета затрат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99BBEF"/>
          </a:solidFill>
          <a:ln w="12700">
            <a:solidFill>
              <a:srgbClr val="99BB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MAP — 18 МЕСЯЦЕВ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фазы реализации проекта GTCP ETRM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2514600" cy="30175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3327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М0 – М3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1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Инициация / BRD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Устав проекта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4963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BRD + Gap-анализ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843784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Выбор стека ПО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71800" y="987552"/>
            <a:ext cx="2286000" cy="3017520"/>
          </a:xfrm>
          <a:prstGeom prst="rect">
            <a:avLst/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63240" y="10332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М3 – М5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63240" y="13258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2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 / SDD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63240" y="214884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SDD архитектура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63240" y="249631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UX прототипы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63240" y="284378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 интеграций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94960" y="987552"/>
            <a:ext cx="3108960" cy="3017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0" y="10332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М5 – М12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0" y="13258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3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214884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MVP-модуля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0" y="249631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API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0" y="284378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 Review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114800"/>
            <a:ext cx="8503920" cy="7315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4 · ТЕСТИРОВАНИЕ &amp; ВНЕДРЕНИЕ · М12 – М18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41655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(М12–М15) → UAT (М15–М16) → Go-Live (М16–М17) → Стабилизация (М17–М18)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99BBEF"/>
          </a:solidFill>
          <a:ln w="12700">
            <a:solidFill>
              <a:srgbClr val="99BB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СМЕТА ЗАТРАТ ПРОЕКТА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€3 088 000 · Детализация по статьям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8503920" cy="420624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Лицензионное ПО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18120" y="10058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€ 420К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0" y="1097280"/>
            <a:ext cx="1217981" cy="1828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417320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356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Разработка (Backend/Frontend/QA)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818120" y="14356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€ 1 160К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1527048"/>
            <a:ext cx="329184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847088"/>
            <a:ext cx="8503920" cy="420624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8653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Интеграции (SCADA, 1С, AFO)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18120" y="186537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€ 280К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0" y="1956816"/>
            <a:ext cx="822960" cy="182880"/>
          </a:xfrm>
          <a:prstGeom prst="rect">
            <a:avLst/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276856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2951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Инфраструктура (серверы, ЦОД)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818120" y="229514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€ 350К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89120" y="2386584"/>
            <a:ext cx="1020470" cy="182880"/>
          </a:xfrm>
          <a:prstGeom prst="rect">
            <a:avLst/>
          </a:prstGeom>
          <a:solidFill>
            <a:srgbClr val="0088CC"/>
          </a:solidFill>
          <a:ln w="12700">
            <a:solidFill>
              <a:srgbClr val="0088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706624"/>
            <a:ext cx="8503920" cy="420624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7249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Управление проектом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18120" y="272491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€ 130К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0" y="2816352"/>
            <a:ext cx="395021" cy="1828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136392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154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Обучение и документация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818120" y="31546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€ 135К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89120" y="3246120"/>
            <a:ext cx="395021" cy="1828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566160"/>
            <a:ext cx="8503920" cy="420624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584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Поддержка 2 года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818120" y="358444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€ 300К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89120" y="3675888"/>
            <a:ext cx="888797" cy="182880"/>
          </a:xfrm>
          <a:prstGeom prst="rect">
            <a:avLst/>
          </a:prstGeom>
          <a:solidFill>
            <a:srgbClr val="99BBEF"/>
          </a:solidFill>
          <a:ln w="12700">
            <a:solidFill>
              <a:srgbClr val="99BB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995928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0142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 15%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818120" y="401421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€ 463К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389120" y="4105656"/>
            <a:ext cx="1349654" cy="182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425696"/>
            <a:ext cx="8503920" cy="420624"/>
          </a:xfrm>
          <a:prstGeom prst="rect">
            <a:avLst/>
          </a:prstGeom>
          <a:solidFill>
            <a:srgbClr val="FFF2C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4439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818120" y="444398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€ 3 088К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3716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00C8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017520" y="164592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ФИНАНСОВОЕ УПРАВЛЕНИЕ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017520" y="237744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· Cash Flow · Юнит-экономика · ROI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99BBEF"/>
          </a:solidFill>
          <a:ln w="12700">
            <a:solidFill>
              <a:srgbClr val="99BB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— ПЛАН ДОХОДОВ И РАСХОДОВ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 5 лет · Транспортировка газа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960120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960120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35040" y="960120"/>
            <a:ext cx="278892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10515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Год 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126480" y="1280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€ 1 150К/мес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126480" y="1709928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+22% за 5 лет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035040" y="2103120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35040" y="2103120"/>
            <a:ext cx="278892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21945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Год 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126480" y="2423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€ 1 051К/мес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126480" y="2852928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Маржинальность 91%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035040" y="3246120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3246120"/>
            <a:ext cx="278892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33375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126480" y="3566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2.5–3 года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126480" y="3995928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Накоп. CF&gt;0 в Год 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99BBEF"/>
          </a:solidFill>
          <a:ln w="12700">
            <a:solidFill>
              <a:srgbClr val="99BB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ЮНИТ-ЭКОНОМИКА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 на 1 грузоотправителя (shipper)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201168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24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транспорт.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51790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8 500 тыс.м³/мес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987552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987552"/>
            <a:ext cx="201168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1124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(FIRM)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87752" y="151790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€ 1 007 250/мес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72584" y="987552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72584" y="987552"/>
            <a:ext cx="201168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1124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на юнит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64024" y="151790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€ 16 500/мес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48856" y="987552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48856" y="987552"/>
            <a:ext cx="201168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0296" y="1124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Вал. маржа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40296" y="151790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€ 990 750/мес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2953512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953512"/>
            <a:ext cx="201168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090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за 5 лет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348386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€ 59.4М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496312" y="2953512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96312" y="2953512"/>
            <a:ext cx="2011680" cy="54864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87752" y="3090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(CAPEX/6)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87752" y="348386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€ 514К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72584" y="2953512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72584" y="2953512"/>
            <a:ext cx="201168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64024" y="3090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64024" y="348386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115x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48856" y="2953512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48856" y="2953512"/>
            <a:ext cx="201168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0296" y="3090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на юнит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40296" y="348386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 мес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3716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00C8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017520" y="164592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РИСКАМИ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017520" y="237744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рисков · Митигация · Метрики качества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99BBEF"/>
          </a:solidFill>
          <a:ln w="12700">
            <a:solidFill>
              <a:srgbClr val="99BB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ТОП-5 РИСКОВ И ПЛАН МИТИГАЦИИ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= Влияние × Вероятность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1463040" cy="74980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87552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КРИТИЧНЫЙ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20240" y="1042416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Дефицит ETRM-специалистов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38074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Pre-screening команды на этапе тендера; удалённые эксперты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040880" y="104241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60%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40880" y="140817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€180К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810512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810512"/>
            <a:ext cx="1463040" cy="7498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810512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20240" y="1865376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Изменения Сетевого Кодекса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20240" y="22037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Гибкая архитектура модулей; буфер scope +10%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040880" y="186537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40%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40880" y="22311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€200К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633472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633472"/>
            <a:ext cx="1463040" cy="7498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633472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20240" y="2688336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Санкционные ограничения ПО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30266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Open-source / нейтральный стек; резерв в смете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040880" y="268833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30%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40880" y="305409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€500К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456432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456432"/>
            <a:ext cx="1463040" cy="7498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456432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920240" y="3511296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интеграции 1С ERP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20240" y="38496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Ранний старт М3; mock-API для параллельной разработки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040880" y="351129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50%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40880" y="387705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€120К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279392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4279392"/>
            <a:ext cx="1463040" cy="7498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279392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920240" y="4334256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/ изменение требований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920240" y="467258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Change Management + MoSCoW-приоритизация бэклога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40880" y="43342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55%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40880" y="470001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€150К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3716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00C8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017520" y="164592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ГИБКИЕ ПОДХОДЫ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017520" y="237744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+ PMBOK гибрид · Метрики · Практики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99BBEF"/>
          </a:solidFill>
          <a:ln w="12700">
            <a:solidFill>
              <a:srgbClr val="99BB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МЕТОДОЛОГИЯ: SCRUM + PMBOK ГИБРИД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Обоснование выбора и контроль хода работ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148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4241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ГИБРИД?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Scrum: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91640" y="135331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Итеративные спринты 2 нед., быстрая ОС заказчика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PMBOK: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18288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+ EVM-мониторинг, жёсткий контроль бюджета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3042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Гибрид: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91640" y="230428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Предсказуемость (PMBOK) + гибкость к NC-изменениям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77977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Pure Agile: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91640" y="277977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FAT/UAT требуют фиксированных спецификаций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25526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Pure WF: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91640" y="325526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мес. без ОС — риск не попасть в требования NC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822192"/>
            <a:ext cx="38404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2219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ВЫБОР: SCRUM-BAN + PMBOK GATE REVIEWS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Спринты 2 нед · EVM ежемес · Gate на М5, М12, М16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960120"/>
            <a:ext cx="416052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104241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И ПРАКТИКИ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00600" y="1353312"/>
            <a:ext cx="3886200" cy="384048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37160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Velocity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55080" y="13716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 SP/спринт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543800" y="137160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800600" y="1746504"/>
            <a:ext cx="3886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76479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Burn-down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55080" y="176479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10% deviation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543800" y="176479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Conf.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00600" y="2139696"/>
            <a:ext cx="3886200" cy="384048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15798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/ CPI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55080" y="2157984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0.95 / ≥ 0.95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43800" y="215798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Dashboard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800600" y="2532888"/>
            <a:ext cx="3886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55117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Escape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55080" y="255117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0.5% на UAT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43800" y="255117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TestRail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800600" y="2926080"/>
            <a:ext cx="3886200" cy="384048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94436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Uptime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55080" y="294436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99.9%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43800" y="294436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800600" y="3319272"/>
            <a:ext cx="3886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3375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Acc.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55080" y="33375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99.5% EDIG@S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543800" y="33375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Log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800600" y="3712464"/>
            <a:ext cx="3886200" cy="384048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373075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Call Time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355080" y="373075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4 часа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543800" y="373075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ETRM Monitor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3716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00C8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017520" y="164592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СПЕЦИАЛИЗАЦИЯ: IT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017520" y="237744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· DevOps · Безопасность · Интеграции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99BBEF"/>
          </a:solidFill>
          <a:ln w="12700">
            <a:solidFill>
              <a:srgbClr val="99BB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АРХИТЕКТУРА GTCP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Микросервисная архитектура · REST API · Event-driven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1554480" cy="80467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987552"/>
            <a:ext cx="151790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11680" y="1115568"/>
            <a:ext cx="1719072" cy="5486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57400" y="1115568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Portal (Шипперы)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0" y="1115568"/>
            <a:ext cx="1719072" cy="5486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86200" y="1115568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0" y="1115568"/>
            <a:ext cx="1719072" cy="5486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15000" y="1115568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 (Swagger)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01168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011680"/>
            <a:ext cx="155448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2011680"/>
            <a:ext cx="151790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011680" y="2139696"/>
            <a:ext cx="171907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57400" y="2139696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 Service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0" y="2139696"/>
            <a:ext cx="171907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86200" y="2139696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Service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0" y="2139696"/>
            <a:ext cx="171907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5000" y="2139696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OBA Service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98080" y="2139696"/>
            <a:ext cx="171907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43800" y="2139696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Service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035808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35808"/>
            <a:ext cx="1554480" cy="804672"/>
          </a:xfrm>
          <a:prstGeom prst="rect">
            <a:avLst/>
          </a:prstGeom>
          <a:solidFill>
            <a:srgbClr val="0088CC"/>
          </a:solidFill>
          <a:ln w="12700">
            <a:solidFill>
              <a:srgbClr val="0088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" y="3035808"/>
            <a:ext cx="151790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011680" y="3163824"/>
            <a:ext cx="1719072" cy="548640"/>
          </a:xfrm>
          <a:prstGeom prst="rect">
            <a:avLst/>
          </a:prstGeom>
          <a:solidFill>
            <a:srgbClr val="0088CC"/>
          </a:solidFill>
          <a:ln w="12700">
            <a:solidFill>
              <a:srgbClr val="0088C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057400" y="3163824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EDIG@S Adapter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40480" y="3163824"/>
            <a:ext cx="1719072" cy="548640"/>
          </a:xfrm>
          <a:prstGeom prst="rect">
            <a:avLst/>
          </a:prstGeom>
          <a:solidFill>
            <a:srgbClr val="0088CC"/>
          </a:solidFill>
          <a:ln w="12700">
            <a:solidFill>
              <a:srgbClr val="0088C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886200" y="3163824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Connector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0" y="3163824"/>
            <a:ext cx="1719072" cy="548640"/>
          </a:xfrm>
          <a:prstGeom prst="rect">
            <a:avLst/>
          </a:prstGeom>
          <a:solidFill>
            <a:srgbClr val="0088CC"/>
          </a:solidFill>
          <a:ln w="12700">
            <a:solidFill>
              <a:srgbClr val="0088C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715000" y="3163824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1С ERP Bridge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498080" y="3163824"/>
            <a:ext cx="1719072" cy="548640"/>
          </a:xfrm>
          <a:prstGeom prst="rect">
            <a:avLst/>
          </a:prstGeom>
          <a:solidFill>
            <a:srgbClr val="0088CC"/>
          </a:solidFill>
          <a:ln w="12700">
            <a:solidFill>
              <a:srgbClr val="0088C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543800" y="3163824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 Capacity API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4059936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4059936"/>
            <a:ext cx="1554480" cy="804672"/>
          </a:xfrm>
          <a:prstGeom prst="rect">
            <a:avLst/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" y="4059936"/>
            <a:ext cx="151790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011680" y="4187952"/>
            <a:ext cx="1719072" cy="548640"/>
          </a:xfrm>
          <a:prstGeom prst="rect">
            <a:avLst/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057400" y="418795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(Master)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40480" y="4187952"/>
            <a:ext cx="1719072" cy="548640"/>
          </a:xfrm>
          <a:prstGeom prst="rect">
            <a:avLst/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886200" y="418795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69280" y="4187952"/>
            <a:ext cx="1719072" cy="548640"/>
          </a:xfrm>
          <a:prstGeom prst="rect">
            <a:avLst/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715000" y="418795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 Bus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498080" y="4187952"/>
            <a:ext cx="1719072" cy="548640"/>
          </a:xfrm>
          <a:prstGeom prst="rect">
            <a:avLst/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543800" y="418795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Store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3716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00C8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017520" y="164592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 И РЕКОМЕНДАЦИИ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017520" y="237744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Реализуемость · Перспективы · Следующие шаги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99BBEF"/>
          </a:solidFill>
          <a:ln w="12700">
            <a:solidFill>
              <a:srgbClr val="99BB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дипломной работы GTCP ETRM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41148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881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Проект реализуем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27048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18-месячный план подтверждён Road Map, WBS и сметой €3.09М. Стек проверен на аналогах — GASTRANS, Unicorn Systems.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41148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881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Риски под контролем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527048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Дефицит кадров и изменения NC закрыты гибкой архитектурой, резервом 15% и pre-screening команды.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71800"/>
            <a:ext cx="41148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998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Высокая экономическая эф.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538728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2.5–3 года. LTV/CAC = 115x. EBITDA-маржинальность 91.4% выше среднего по отрасли.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971800"/>
            <a:ext cx="41148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0998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Потенциал масштабирования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538728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модуль для тиражирования в 6+ стран СЕЕ. Потенциальный рынок $180М/год.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91440"/>
            <a:ext cx="2743200" cy="4960620"/>
          </a:xfrm>
          <a:prstGeom prst="rect">
            <a:avLst/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3716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8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GTCP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0" y="21945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Trading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Platform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3127248"/>
            <a:ext cx="2194560" cy="36576"/>
          </a:xfrm>
          <a:prstGeom prst="rect">
            <a:avLst/>
          </a:prstGeom>
          <a:solidFill>
            <a:srgbClr val="99BBEF"/>
          </a:solidFill>
          <a:ln w="12700">
            <a:solidFill>
              <a:srgbClr val="99BB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324612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ответить на вопросы.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1031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Дипломная работа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проектов: расширенный курс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72200" y="2103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ООО «ГАЗ ТРАНС» · Сербия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v2.4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GTCP ETRM — Дипломная работа</dc:title>
  <dc:subject>PptxGenJS Presentation</dc:subject>
  <dc:creator>PptxGenJS</dc:creator>
  <cp:lastModifiedBy>PptxGenJS</cp:lastModifiedBy>
  <cp:revision>1</cp:revision>
  <dcterms:created xsi:type="dcterms:W3CDTF">2026-02-22T21:58:14Z</dcterms:created>
  <dcterms:modified xsi:type="dcterms:W3CDTF">2026-02-22T21:58:14Z</dcterms:modified>
</cp:coreProperties>
</file>